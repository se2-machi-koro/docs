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65" r:id="rId5"/>
    <p:sldId id="274" r:id="rId6"/>
    <p:sldId id="273" r:id="rId7"/>
    <p:sldId id="269" r:id="rId8"/>
    <p:sldId id="270" r:id="rId9"/>
    <p:sldId id="258" r:id="rId10"/>
    <p:sldId id="272" r:id="rId11"/>
    <p:sldId id="266" r:id="rId12"/>
    <p:sldId id="261" r:id="rId13"/>
    <p:sldId id="275" r:id="rId14"/>
    <p:sldId id="271" r:id="rId15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35"/>
  </p:normalViewPr>
  <p:slideViewPr>
    <p:cSldViewPr snapToGrid="0">
      <p:cViewPr varScale="1">
        <p:scale>
          <a:sx n="115" d="100"/>
          <a:sy n="115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96064-CDB1-5253-8D81-9A6600B7F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D7823-3F81-CC8D-E002-C251D76AB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4CC23-4BA7-D96C-D4AD-AF5D88A1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15.06.26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B3787-8EEC-458B-9473-2191DE931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5A166-077C-46A8-94D0-C08C910FF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542628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22F80-D7D2-40DD-78C9-7C0D17D2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08FC9-58E7-3B65-19BF-AD7407486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4D517-E98B-426D-56A6-98AA1531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15.06.26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C474E-C741-B4ED-2B8E-16238B3FD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C75D0-137B-789F-86B6-889C44F1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26295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E7CDC-67AB-92F6-19FC-0BD0F01C4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BA03F-AC3D-4888-101B-434561087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CB5D7-9064-6680-E246-7D913E070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15.06.26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E1DF9-47CE-E108-88B9-DADA766F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A246A-A587-6AA8-5FD4-04E61EFB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845880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031E-4ED5-8B21-49DC-966E3B1BB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0067B-D34D-439D-A2C3-49A15EE2CE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EDF24-036A-E123-60B5-7E3A8DC76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CD093-EFF5-18DC-8F43-D3E950ED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15.06.26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525BD-7B7D-5D5C-CA52-384C20371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57151-5E50-0201-1363-52C382005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48594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80D16-ADBC-8A14-D7C6-FAF2F136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BC8B2-2AF3-CFFB-2FE5-F40644841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5E2AD-05D2-8E09-5C0E-053F599A1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520D2-43E5-1282-6F24-297DF99A7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BE589-EFF3-F058-F005-852F9AFB5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704A49-6DCC-F07F-9B39-9C9D8E41B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15.06.26</a:t>
            </a:fld>
            <a:endParaRPr lang="en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45FA3-35AC-2124-6485-CA693F747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201038-E918-1AB5-572B-5A75ACBDD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152687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A7EEE-18FF-6139-D942-BB9AB25D3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D82380-6F1B-4570-58E4-EADAC5B2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15.06.26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711E64-D0F9-A4D9-FB74-61922527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77632-2007-F630-C6FB-0A808160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20584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EDEF64-79B2-7A96-5C1E-64480BD88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15.06.26</a:t>
            </a:fld>
            <a:endParaRPr lang="en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9C1AC9-677B-9ADA-16BF-22AC2F079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F468E-9F63-1C09-B93C-BAD6DCBA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434223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5EE03-516A-9007-5521-E74854AA4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D591A-8F24-42FD-D32A-A8ADF30A1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B53320-62EA-1260-52C6-71606688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63281-76A5-A4C7-E7BF-7DA0A135F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15.06.26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A0340-60DA-84D6-6594-AD30F8034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F8CDB-9669-FDAE-75D7-BCBD17B7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6827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0DE0-19F3-5AA4-0B09-2C520BF3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36836C-D287-364F-D3DC-E93792D51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9834B3-69BB-05C8-EFDA-D4EBF1DA9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4374D-E79C-B58D-0B6F-57ACF97F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15.06.26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86051-054F-C5A1-B998-89D8A2FB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3638E-7471-F244-5A10-DBDBB7E9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8313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674D-E46B-2CF3-627A-04E7B005E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8727B1-BD08-B516-FDDC-739495778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08E1E-7BED-941D-E72E-64605F4E6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15.06.26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ED79C-E8C1-DEDD-37BF-928B375F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1E1ED-E266-8B17-93CB-E888890B5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57246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AC3DEF-94F8-78DE-14F2-62B4761EC0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A1B03E-F25D-3A85-BFCC-2537F0157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08609-2853-4DB1-6E82-D2ABD8A4C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15.06.26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17DD8-288B-05F4-DC6E-A3AFF026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7F59A-ADB2-F3A1-D20A-D4877E0A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85233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A85F65-4DF8-AFAA-EDF3-C6C674BAE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02469-E138-C589-1A19-CE3494968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A9A7B-582A-68BA-E804-A0E041935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06704-5A34-1248-9764-FB29BF5FCCD8}" type="datetimeFigureOut">
              <a:rPr lang="en-AT" smtClean="0"/>
              <a:t>15.06.26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79AAE-C231-A61F-7A14-551F27501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8B928-040A-8EC1-F13C-6DD63791CC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19987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hub.com/orgs/SE2-Machi-Koro/projects/1/views/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80693DD-C022-1E1D-3169-2073E607DD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34593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ECDE09-4E5C-F76B-5360-00457F75C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AT" dirty="0">
                <a:solidFill>
                  <a:srgbClr val="FFFFFF"/>
                </a:solidFill>
              </a:rPr>
              <a:t>Machi Koro</a:t>
            </a:r>
            <a:br>
              <a:rPr lang="en-AT" dirty="0"/>
            </a:br>
            <a:r>
              <a:rPr lang="en-AT" dirty="0">
                <a:solidFill>
                  <a:srgbClr val="FFFFFF"/>
                </a:solidFill>
              </a:rPr>
              <a:t>Sprint 3-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D9DD5-6835-52A8-4E03-E216488A0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8433"/>
            <a:ext cx="9144000" cy="1098395"/>
          </a:xfrm>
        </p:spPr>
        <p:txBody>
          <a:bodyPr>
            <a:normAutofit/>
          </a:bodyPr>
          <a:lstStyle/>
          <a:p>
            <a:r>
              <a:rPr lang="en-AT">
                <a:solidFill>
                  <a:srgbClr val="FFFFFF"/>
                </a:solidFill>
              </a:rPr>
              <a:t>Team </a:t>
            </a:r>
            <a:r>
              <a:rPr lang="en-GB" err="1">
                <a:solidFill>
                  <a:srgbClr val="FFFFFF"/>
                </a:solidFill>
              </a:rPr>
              <a:t>Bisasam</a:t>
            </a:r>
            <a:endParaRPr lang="en-AT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79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B2A2B-0256-A4C5-0434-36F7150CB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/>
              <a:t>Team </a:t>
            </a:r>
            <a:r>
              <a:rPr lang="en-GB" err="1"/>
              <a:t>Bisasam</a:t>
            </a:r>
            <a:endParaRPr lang="en-AT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DCE11D-7524-1F1A-2C4B-3D414988A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/>
              <a:t>Danylo Lavrov		=&gt; </a:t>
            </a:r>
            <a:r>
              <a:rPr lang="en-GB" sz="2000" err="1"/>
              <a:t>doniliks</a:t>
            </a:r>
            <a:endParaRPr lang="en-GB" sz="2000"/>
          </a:p>
          <a:p>
            <a:pPr marL="0" indent="0">
              <a:buNone/>
            </a:pPr>
            <a:r>
              <a:rPr lang="en-GB" sz="2000"/>
              <a:t>Fabian </a:t>
            </a:r>
            <a:r>
              <a:rPr lang="en-GB" sz="2000" err="1"/>
              <a:t>Barrasch</a:t>
            </a:r>
            <a:r>
              <a:rPr lang="en-GB" sz="2000"/>
              <a:t> 	=&gt; </a:t>
            </a:r>
            <a:r>
              <a:rPr lang="en-GB" sz="2000" err="1"/>
              <a:t>FabianSolutions</a:t>
            </a:r>
            <a:endParaRPr lang="en-GB" sz="2000"/>
          </a:p>
          <a:p>
            <a:pPr marL="0" indent="0">
              <a:buNone/>
            </a:pPr>
            <a:r>
              <a:rPr lang="en-GB" sz="2000"/>
              <a:t>Ivona </a:t>
            </a:r>
            <a:r>
              <a:rPr lang="en-GB" sz="2000" err="1"/>
              <a:t>Goranova</a:t>
            </a:r>
            <a:r>
              <a:rPr lang="en-GB" sz="2000"/>
              <a:t> 		=&gt; Ivona-</a:t>
            </a:r>
            <a:r>
              <a:rPr lang="en-GB" sz="2000" err="1"/>
              <a:t>Goranova</a:t>
            </a:r>
            <a:endParaRPr lang="en-GB" sz="2000"/>
          </a:p>
          <a:p>
            <a:pPr marL="0" indent="0">
              <a:buNone/>
            </a:pPr>
            <a:r>
              <a:rPr lang="en-GB" sz="2000"/>
              <a:t>Lea </a:t>
            </a:r>
            <a:r>
              <a:rPr lang="en-GB" sz="2000" err="1"/>
              <a:t>Kandut</a:t>
            </a:r>
            <a:r>
              <a:rPr lang="en-GB" sz="2000"/>
              <a:t> 		=&gt; </a:t>
            </a:r>
            <a:r>
              <a:rPr lang="en-GB" sz="2000" err="1"/>
              <a:t>SoupCube</a:t>
            </a:r>
            <a:endParaRPr lang="en-GB" sz="2000"/>
          </a:p>
          <a:p>
            <a:pPr marL="0" indent="0">
              <a:buNone/>
            </a:pPr>
            <a:r>
              <a:rPr lang="en-GB" sz="2000"/>
              <a:t>Lea Kutschera		=&gt; </a:t>
            </a:r>
            <a:r>
              <a:rPr lang="en-GB" sz="2000" err="1"/>
              <a:t>LeaKutschera</a:t>
            </a:r>
            <a:endParaRPr lang="en-GB" sz="2000"/>
          </a:p>
          <a:p>
            <a:pPr marL="0" indent="0">
              <a:buNone/>
            </a:pPr>
            <a:r>
              <a:rPr lang="en-GB" sz="2000"/>
              <a:t>Lev Starman		=&gt; eles17</a:t>
            </a:r>
          </a:p>
          <a:p>
            <a:pPr marL="0" indent="0">
              <a:buNone/>
            </a:pPr>
            <a:r>
              <a:rPr lang="en-GB" sz="2000"/>
              <a:t>Moritz </a:t>
            </a:r>
            <a:r>
              <a:rPr lang="en-GB" sz="2000" err="1"/>
              <a:t>Gutschi</a:t>
            </a:r>
            <a:r>
              <a:rPr lang="en-GB" sz="2000"/>
              <a:t>		=&gt; Moritz2k1</a:t>
            </a:r>
          </a:p>
          <a:p>
            <a:pPr marL="0" indent="0">
              <a:buNone/>
            </a:pPr>
            <a:r>
              <a:rPr lang="en-GB" sz="2000"/>
              <a:t>Valentina Schiavon 	=&gt; valentinaschiavon99</a:t>
            </a:r>
            <a:endParaRPr lang="en-AT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3833AB-E79C-A079-DE61-1C9634D969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65128"/>
          <a:stretch>
            <a:fillRect/>
          </a:stretch>
        </p:blipFill>
        <p:spPr>
          <a:xfrm>
            <a:off x="6807528" y="365125"/>
            <a:ext cx="5384472" cy="23915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9CF4BA-F335-EE09-0F5F-BAA1E02B85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983" b="1"/>
          <a:stretch>
            <a:fillRect/>
          </a:stretch>
        </p:blipFill>
        <p:spPr>
          <a:xfrm>
            <a:off x="6807528" y="2756633"/>
            <a:ext cx="5384472" cy="370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922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8DE7A-A802-3A80-ECA7-49D371D9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AT" sz="5400"/>
              <a:t>Sprint 1 Goal - RECAP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45401-F2A2-EFC2-CAD4-7520B3424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AT" sz="2200" dirty="0"/>
              <a:t>Project setup (Ci-Piplines, Sonar, Quality Gates, Websockets, Docker, Database, UML, User Stories, UI Sketches...)</a:t>
            </a:r>
          </a:p>
          <a:p>
            <a:r>
              <a:rPr lang="en-AT" sz="2200" dirty="0"/>
              <a:t>Basic game loop </a:t>
            </a:r>
          </a:p>
          <a:p>
            <a:pPr lvl="1"/>
            <a:r>
              <a:rPr lang="en-GB" sz="2200" dirty="0"/>
              <a:t>Game Initialization (minimal) </a:t>
            </a:r>
          </a:p>
          <a:p>
            <a:pPr lvl="1"/>
            <a:r>
              <a:rPr lang="en-GB" sz="2200" dirty="0"/>
              <a:t>Dice Roll </a:t>
            </a:r>
          </a:p>
          <a:p>
            <a:pPr lvl="1"/>
            <a:r>
              <a:rPr lang="en-GB" sz="2200" dirty="0"/>
              <a:t>Coin Gain </a:t>
            </a:r>
          </a:p>
          <a:p>
            <a:pPr lvl="1"/>
            <a:r>
              <a:rPr lang="en-GB" sz="2200" dirty="0"/>
              <a:t>Buy Card </a:t>
            </a:r>
          </a:p>
          <a:p>
            <a:pPr lvl="1"/>
            <a:r>
              <a:rPr lang="en-GB" sz="2200" dirty="0"/>
              <a:t>Turn Handling </a:t>
            </a:r>
            <a:endParaRPr lang="en-AT" sz="2200" dirty="0"/>
          </a:p>
          <a:p>
            <a:endParaRPr lang="en-AT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C4CB5E-26FD-D8DF-B395-04776C4B70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4" r="1781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652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FB135-9286-D89E-D980-40B9482E1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AT" sz="5400"/>
              <a:t>Initial Sprint 2 Goal – RECAP 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78E7C-B0D9-D807-4FDC-DFD1D5026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AT" sz="1700"/>
              <a:t>● First-level prototype.    DONE</a:t>
            </a:r>
          </a:p>
          <a:p>
            <a:pPr lvl="1"/>
            <a:r>
              <a:rPr lang="en-AT" sz="1700"/>
              <a:t>○ Alternatively: Basic game loop is functional.    DONE</a:t>
            </a:r>
          </a:p>
          <a:p>
            <a:r>
              <a:rPr lang="en-AT" sz="1700"/>
              <a:t>● Network communication between at least 2 players.    DONE</a:t>
            </a:r>
          </a:p>
          <a:p>
            <a:r>
              <a:rPr lang="en-AT" sz="1700"/>
              <a:t>● Game state recovery upon disconnection/reconnection.   DONE</a:t>
            </a:r>
          </a:p>
          <a:p>
            <a:r>
              <a:rPr lang="en-AT" sz="1700"/>
              <a:t>● Game state recovery upon failure/restart of the backend container.   DONE</a:t>
            </a:r>
          </a:p>
          <a:p>
            <a:r>
              <a:rPr lang="en-AT" sz="1700"/>
              <a:t>● Health endpoint implemented  DONE</a:t>
            </a:r>
          </a:p>
          <a:p>
            <a:r>
              <a:rPr lang="en-AT" sz="1700"/>
              <a:t>● Backend is automatically built as a container and deployed on the university server  DONE</a:t>
            </a:r>
          </a:p>
          <a:p>
            <a:r>
              <a:rPr lang="en-AT" sz="1700"/>
              <a:t>● Documentation  DONE</a:t>
            </a:r>
          </a:p>
          <a:p>
            <a:pPr lvl="1"/>
            <a:r>
              <a:rPr lang="en-AT" sz="1700"/>
              <a:t>○ Focus: Network protocol  DONE</a:t>
            </a:r>
          </a:p>
          <a:p>
            <a:endParaRPr lang="en-AT" sz="17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D69D9C-EF54-FD81-C423-3CF9ABCC31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4" r="1781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57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E24377-B419-3984-955C-4E30AA4DD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283DB-2EAD-824D-6E1A-802944418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T" sz="5400"/>
              <a:t>Sprint 3 Goal 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1C92BA-8276-219D-EE09-259466DD7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AT" sz="2200"/>
              <a:t>Game fully playable </a:t>
            </a:r>
            <a:endParaRPr lang="en-AT" sz="2200">
              <a:highlight>
                <a:srgbClr val="00FF00"/>
              </a:highlight>
            </a:endParaRPr>
          </a:p>
          <a:p>
            <a:r>
              <a:rPr lang="en-AT" sz="2200"/>
              <a:t>● API security </a:t>
            </a:r>
            <a:endParaRPr lang="en-AT" sz="2200">
              <a:highlight>
                <a:srgbClr val="00FF00"/>
              </a:highlight>
            </a:endParaRPr>
          </a:p>
          <a:p>
            <a:pPr lvl="1"/>
            <a:r>
              <a:rPr lang="en-AT" sz="2200"/>
              <a:t>○ Endpoints must ensure that the player is authorised to call them (e.g. Player 1 must not make calls on behalf of Player 2, …) </a:t>
            </a:r>
            <a:endParaRPr lang="en-AT" sz="2200">
              <a:highlight>
                <a:srgbClr val="00FF00"/>
              </a:highlight>
            </a:endParaRPr>
          </a:p>
          <a:p>
            <a:r>
              <a:rPr lang="en-AT" sz="2200"/>
              <a:t>● Documentation </a:t>
            </a:r>
          </a:p>
          <a:p>
            <a:pPr lvl="1"/>
            <a:r>
              <a:rPr lang="en-AT" sz="2200"/>
              <a:t>○ Release management</a:t>
            </a:r>
            <a:endParaRPr lang="en-AT" sz="2200">
              <a:highlight>
                <a:srgbClr val="00FF00"/>
              </a:highlight>
            </a:endParaRPr>
          </a:p>
          <a:p>
            <a:pPr lvl="1"/>
            <a:r>
              <a:rPr lang="en-AT" sz="2200"/>
              <a:t>○ Deployment.</a:t>
            </a:r>
            <a:endParaRPr lang="en-AT" sz="2200">
              <a:highlight>
                <a:srgbClr val="00FF00"/>
              </a:highlight>
            </a:endParaRPr>
          </a:p>
          <a:p>
            <a:r>
              <a:rPr lang="en-AT" sz="2200"/>
              <a:t>● Cheat function integrated and included in the tutorial </a:t>
            </a:r>
            <a:endParaRPr lang="en-AT" sz="2200">
              <a:highlight>
                <a:srgbClr val="00FF00"/>
              </a:highlight>
            </a:endParaRPr>
          </a:p>
          <a:p>
            <a:r>
              <a:rPr lang="en-AT" sz="2200"/>
              <a:t>● Set resource limits and update the Docker Compose file accordingly </a:t>
            </a:r>
            <a:endParaRPr lang="en-AT" sz="2200">
              <a:highlight>
                <a:srgbClr val="00FF00"/>
              </a:highlight>
            </a:endParaRPr>
          </a:p>
          <a:p>
            <a:r>
              <a:rPr lang="en-AT" sz="2200"/>
              <a:t>● Error handling implemented correctly </a:t>
            </a:r>
            <a:endParaRPr lang="en-AT" sz="2200">
              <a:highlight>
                <a:srgbClr val="00FF00"/>
              </a:highlight>
            </a:endParaRPr>
          </a:p>
          <a:p>
            <a:pPr marL="0" indent="0">
              <a:buNone/>
            </a:pPr>
            <a:endParaRPr lang="en-AT" sz="2200"/>
          </a:p>
        </p:txBody>
      </p:sp>
    </p:spTree>
    <p:extLst>
      <p:ext uri="{BB962C8B-B14F-4D97-AF65-F5344CB8AC3E}">
        <p14:creationId xmlns:p14="http://schemas.microsoft.com/office/powerpoint/2010/main" val="36234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BDE9A8-2EF8-DC0F-A87A-64BD4C784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8EDD8-4A7A-FF43-B2B6-02A990D82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AT" sz="5400"/>
              <a:t>Sprint 3 Goal  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7E4C3D-F047-491F-E1F1-4EFE5CCFB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AT" sz="1700"/>
              <a:t>Game fully playable - </a:t>
            </a:r>
            <a:r>
              <a:rPr lang="en-AT" sz="1700">
                <a:highlight>
                  <a:srgbClr val="00FF00"/>
                </a:highlight>
              </a:rPr>
              <a:t>YES</a:t>
            </a:r>
          </a:p>
          <a:p>
            <a:r>
              <a:rPr lang="en-AT" sz="1700"/>
              <a:t>● API security -  </a:t>
            </a:r>
            <a:r>
              <a:rPr lang="en-AT" sz="1700">
                <a:highlight>
                  <a:srgbClr val="00FF00"/>
                </a:highlight>
              </a:rPr>
              <a:t>DONE</a:t>
            </a:r>
          </a:p>
          <a:p>
            <a:pPr lvl="1"/>
            <a:r>
              <a:rPr lang="en-AT" sz="1700"/>
              <a:t>○ Endpoints must ensure that the player is authorised to call them (e.g. Player 1 must not make calls on behalf of Player 2, …)  </a:t>
            </a:r>
            <a:r>
              <a:rPr lang="en-AT" sz="1700">
                <a:highlight>
                  <a:srgbClr val="00FF00"/>
                </a:highlight>
              </a:rPr>
              <a:t>DONE</a:t>
            </a:r>
          </a:p>
          <a:p>
            <a:r>
              <a:rPr lang="en-AT" sz="1700"/>
              <a:t>● Documentation </a:t>
            </a:r>
          </a:p>
          <a:p>
            <a:pPr lvl="1"/>
            <a:r>
              <a:rPr lang="en-AT" sz="1700"/>
              <a:t>○ Release management </a:t>
            </a:r>
            <a:r>
              <a:rPr lang="en-AT" sz="1700">
                <a:highlight>
                  <a:srgbClr val="00FF00"/>
                </a:highlight>
              </a:rPr>
              <a:t>DONE</a:t>
            </a:r>
          </a:p>
          <a:p>
            <a:pPr lvl="1"/>
            <a:r>
              <a:rPr lang="en-AT" sz="1700"/>
              <a:t>○ Deployment. </a:t>
            </a:r>
            <a:r>
              <a:rPr lang="en-AT" sz="1700">
                <a:highlight>
                  <a:srgbClr val="00FF00"/>
                </a:highlight>
              </a:rPr>
              <a:t>DONE</a:t>
            </a:r>
          </a:p>
          <a:p>
            <a:r>
              <a:rPr lang="en-AT" sz="1700"/>
              <a:t>● Cheat function integrated and included in the tutorial  </a:t>
            </a:r>
            <a:r>
              <a:rPr lang="en-AT" sz="1700">
                <a:highlight>
                  <a:srgbClr val="00FF00"/>
                </a:highlight>
              </a:rPr>
              <a:t>DONE</a:t>
            </a:r>
          </a:p>
          <a:p>
            <a:r>
              <a:rPr lang="en-AT" sz="1700"/>
              <a:t>● Set resource limits and update the Docker Compose file accordingly </a:t>
            </a:r>
            <a:r>
              <a:rPr lang="en-AT" sz="1700">
                <a:highlight>
                  <a:srgbClr val="00FF00"/>
                </a:highlight>
              </a:rPr>
              <a:t>DONE</a:t>
            </a:r>
          </a:p>
          <a:p>
            <a:r>
              <a:rPr lang="en-AT" sz="1700"/>
              <a:t>● Error handling implemented correctly  </a:t>
            </a:r>
            <a:r>
              <a:rPr lang="en-AT" sz="1700">
                <a:highlight>
                  <a:srgbClr val="00FF00"/>
                </a:highlight>
              </a:rPr>
              <a:t>DONE</a:t>
            </a:r>
          </a:p>
          <a:p>
            <a:pPr marL="0" indent="0">
              <a:buNone/>
            </a:pPr>
            <a:endParaRPr lang="en-AT" sz="1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A2A6BA-C3A3-900E-1D5A-EBD3CA721A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4" r="1781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62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9EE82F4-0C86-7E56-0116-D0620AD32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BF82-0A69-C610-AA0D-03A884352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/>
              <a:t>What was achieved in Sprint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1F0FE-9C44-12EC-AF0F-159CE6E9E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263" y="1540725"/>
            <a:ext cx="5091102" cy="496611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sz="1800">
                <a:solidFill>
                  <a:schemeClr val="accent6"/>
                </a:solidFill>
              </a:rPr>
              <a:t>Core game loop:</a:t>
            </a:r>
          </a:p>
          <a:p>
            <a:pPr lvl="1"/>
            <a:r>
              <a:rPr lang="en-GB" sz="1800">
                <a:solidFill>
                  <a:srgbClr val="FFC000"/>
                </a:solidFill>
              </a:rPr>
              <a:t>Turn handling</a:t>
            </a:r>
          </a:p>
          <a:p>
            <a:pPr lvl="1"/>
            <a:r>
              <a:rPr lang="en-GB" sz="1800">
                <a:solidFill>
                  <a:srgbClr val="FFC000"/>
                </a:solidFill>
              </a:rPr>
              <a:t>Dice roll</a:t>
            </a:r>
          </a:p>
          <a:p>
            <a:pPr lvl="1"/>
            <a:r>
              <a:rPr lang="en-GB" sz="1800">
                <a:solidFill>
                  <a:srgbClr val="FFC000"/>
                </a:solidFill>
              </a:rPr>
              <a:t>Basic coin calculation</a:t>
            </a:r>
          </a:p>
          <a:p>
            <a:pPr lvl="1"/>
            <a:r>
              <a:rPr lang="en-GB" sz="1800">
                <a:solidFill>
                  <a:srgbClr val="FFC000"/>
                </a:solidFill>
              </a:rPr>
              <a:t>Card purchase (simplified rules)</a:t>
            </a:r>
          </a:p>
          <a:p>
            <a:r>
              <a:rPr lang="en-GB" sz="1800">
                <a:solidFill>
                  <a:schemeClr val="accent6"/>
                </a:solidFill>
              </a:rPr>
              <a:t>Backend:</a:t>
            </a:r>
          </a:p>
          <a:p>
            <a:pPr lvl="1"/>
            <a:r>
              <a:rPr lang="en-GB" sz="1800">
                <a:solidFill>
                  <a:schemeClr val="accent6"/>
                </a:solidFill>
              </a:rPr>
              <a:t>Game state management</a:t>
            </a:r>
          </a:p>
          <a:p>
            <a:pPr lvl="1"/>
            <a:r>
              <a:rPr lang="en-GB" sz="1800">
                <a:solidFill>
                  <a:schemeClr val="accent6"/>
                </a:solidFill>
              </a:rPr>
              <a:t>Turn validation</a:t>
            </a:r>
          </a:p>
          <a:p>
            <a:pPr lvl="1"/>
            <a:r>
              <a:rPr lang="en-GB" sz="1800">
                <a:solidFill>
                  <a:schemeClr val="accent6"/>
                </a:solidFill>
              </a:rPr>
              <a:t>State updates</a:t>
            </a:r>
          </a:p>
          <a:p>
            <a:r>
              <a:rPr lang="en-GB" sz="1800">
                <a:solidFill>
                  <a:srgbClr val="FFC000"/>
                </a:solidFill>
                <a:ea typeface="+mn-lt"/>
                <a:cs typeface="+mn-lt"/>
              </a:rPr>
              <a:t>WebSocket:</a:t>
            </a:r>
          </a:p>
          <a:p>
            <a:pPr lvl="1"/>
            <a:r>
              <a:rPr lang="en-GB" sz="1400">
                <a:solidFill>
                  <a:schemeClr val="accent6"/>
                </a:solidFill>
                <a:ea typeface="+mn-lt"/>
                <a:cs typeface="+mn-lt"/>
              </a:rPr>
              <a:t>Backend real-time synchronization and broadcasts implemented</a:t>
            </a:r>
            <a:endParaRPr lang="en-GB" sz="1400">
              <a:solidFill>
                <a:schemeClr val="accent6"/>
              </a:solidFill>
            </a:endParaRPr>
          </a:p>
          <a:p>
            <a:pPr lvl="1"/>
            <a:r>
              <a:rPr lang="en-GB" sz="1400">
                <a:solidFill>
                  <a:schemeClr val="accent6"/>
                </a:solidFill>
                <a:ea typeface="+mn-lt"/>
                <a:cs typeface="+mn-lt"/>
              </a:rPr>
              <a:t>Client integration partially implemented</a:t>
            </a:r>
            <a:endParaRPr lang="en-GB" sz="1400">
              <a:solidFill>
                <a:schemeClr val="accent6"/>
              </a:solidFill>
            </a:endParaRPr>
          </a:p>
          <a:p>
            <a:pPr lvl="1"/>
            <a:r>
              <a:rPr lang="en-GB" sz="1400">
                <a:solidFill>
                  <a:srgbClr val="FFC000"/>
                </a:solidFill>
                <a:ea typeface="+mn-lt"/>
                <a:cs typeface="+mn-lt"/>
              </a:rPr>
              <a:t>Remaining: full state updates from broadcasts, turn-flow actions, and two-player sync verification</a:t>
            </a:r>
            <a:endParaRPr lang="en-GB" sz="1400"/>
          </a:p>
          <a:p>
            <a:r>
              <a:rPr lang="en-GB" sz="1600">
                <a:solidFill>
                  <a:schemeClr val="accent6"/>
                </a:solidFill>
              </a:rPr>
              <a:t>Client:</a:t>
            </a:r>
            <a:endParaRPr lang="en-US" sz="1600">
              <a:solidFill>
                <a:schemeClr val="accent6"/>
              </a:solidFill>
            </a:endParaRPr>
          </a:p>
          <a:p>
            <a:pPr lvl="1"/>
            <a:r>
              <a:rPr lang="en-GB" sz="1600">
                <a:solidFill>
                  <a:schemeClr val="accent6"/>
                </a:solidFill>
              </a:rPr>
              <a:t>Display game state (dice, coins, cards, active player)</a:t>
            </a:r>
            <a:endParaRPr lang="en-US" sz="1600">
              <a:solidFill>
                <a:schemeClr val="accent6"/>
              </a:solidFill>
            </a:endParaRPr>
          </a:p>
          <a:p>
            <a:pPr lvl="1"/>
            <a:r>
              <a:rPr lang="en-GB" sz="1600">
                <a:solidFill>
                  <a:schemeClr val="accent6"/>
                </a:solidFill>
              </a:rPr>
              <a:t>Allow user interaction for core actions</a:t>
            </a:r>
            <a:endParaRPr lang="en-US" sz="1600">
              <a:solidFill>
                <a:schemeClr val="accent6"/>
              </a:solidFill>
            </a:endParaRPr>
          </a:p>
          <a:p>
            <a:r>
              <a:rPr lang="en-GB" sz="1600">
                <a:solidFill>
                  <a:schemeClr val="accent6"/>
                </a:solidFill>
              </a:rPr>
              <a:t>UI:</a:t>
            </a:r>
            <a:endParaRPr lang="en-US" sz="1600">
              <a:solidFill>
                <a:schemeClr val="accent6"/>
              </a:solidFill>
            </a:endParaRPr>
          </a:p>
          <a:p>
            <a:pPr lvl="1"/>
            <a:r>
              <a:rPr lang="en-GB" sz="1600">
                <a:solidFill>
                  <a:schemeClr val="accent6"/>
                </a:solidFill>
              </a:rPr>
              <a:t>Minimal functional screens (not polished)</a:t>
            </a:r>
            <a:endParaRPr lang="en-AT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AT" sz="160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69BAB94E-B6B3-F966-E398-D367961DBD91}"/>
              </a:ext>
            </a:extLst>
          </p:cNvPr>
          <p:cNvSpPr txBox="1">
            <a:spLocks/>
          </p:cNvSpPr>
          <p:nvPr/>
        </p:nvSpPr>
        <p:spPr>
          <a:xfrm>
            <a:off x="6095164" y="2007468"/>
            <a:ext cx="5757335" cy="3443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GB" sz="1600">
                <a:solidFill>
                  <a:schemeClr val="accent6"/>
                </a:solidFill>
              </a:rPr>
              <a:t>Implement network communication between at least two players</a:t>
            </a:r>
            <a:endParaRPr lang="en-GB" sz="1800">
              <a:solidFill>
                <a:schemeClr val="accent6"/>
              </a:solidFill>
              <a:latin typeface="Aptos" panose="02110004020202020204"/>
              <a:cs typeface="Arial"/>
            </a:endParaRPr>
          </a:p>
          <a:p>
            <a:pPr>
              <a:buFont typeface="Arial"/>
              <a:buChar char="•"/>
            </a:pPr>
            <a:r>
              <a:rPr lang="en-GB" sz="1600">
                <a:solidFill>
                  <a:schemeClr val="accent6"/>
                </a:solidFill>
              </a:rPr>
              <a:t>Support game state recovery after player disconnection/reconnection</a:t>
            </a:r>
          </a:p>
          <a:p>
            <a:pPr>
              <a:buFont typeface="Arial"/>
              <a:buChar char="•"/>
            </a:pPr>
            <a:r>
              <a:rPr lang="en-GB" sz="1600">
                <a:solidFill>
                  <a:schemeClr val="accent6"/>
                </a:solidFill>
              </a:rPr>
              <a:t>Support game state recovery after backend container failure or restart</a:t>
            </a:r>
          </a:p>
          <a:p>
            <a:pPr>
              <a:buFont typeface="Arial"/>
              <a:buChar char="•"/>
            </a:pPr>
            <a:r>
              <a:rPr lang="en-GB" sz="1600">
                <a:solidFill>
                  <a:schemeClr val="accent6"/>
                </a:solidFill>
              </a:rPr>
              <a:t>Implement a health check endpoint</a:t>
            </a:r>
          </a:p>
          <a:p>
            <a:pPr>
              <a:buFont typeface="Arial"/>
              <a:buChar char="•"/>
            </a:pPr>
            <a:r>
              <a:rPr lang="en-GB" sz="1600">
                <a:solidFill>
                  <a:schemeClr val="accent6"/>
                </a:solidFill>
              </a:rPr>
              <a:t>Automatically build the backend as a container and deploy it to the university server</a:t>
            </a:r>
          </a:p>
          <a:p>
            <a:pPr>
              <a:buFont typeface="Arial"/>
              <a:buChar char="•"/>
            </a:pPr>
            <a:r>
              <a:rPr lang="en-GB" sz="1600">
                <a:solidFill>
                  <a:schemeClr val="accent6"/>
                </a:solidFill>
              </a:rPr>
              <a:t>Create documentation with a focus on the network protocol</a:t>
            </a:r>
          </a:p>
          <a:p>
            <a:pPr marL="971550" lvl="1" indent="-285750">
              <a:buFont typeface="Arial"/>
              <a:buChar char="•"/>
            </a:pPr>
            <a:endParaRPr lang="en-GB" sz="1600">
              <a:solidFill>
                <a:schemeClr val="accent6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AT" sz="18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060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11E63-71D7-5810-31C8-8D595B762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will we tackle the open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4F7B0-0FAE-C42F-9323-74DD81499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Mostly UI fixes now and UX improvements</a:t>
            </a:r>
          </a:p>
          <a:p>
            <a:pPr lvl="1"/>
            <a:r>
              <a:rPr lang="en-US" dirty="0"/>
              <a:t>aligning with sketches for UI</a:t>
            </a:r>
          </a:p>
          <a:p>
            <a:pPr lvl="1"/>
            <a:r>
              <a:rPr lang="en-US" dirty="0"/>
              <a:t>making sure that the user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Still chat function to be added by Lea Kanduth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420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0FAE728-C5A9-4B0F-B89E-F4BED8250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62C0FC-48D0-C76E-361E-AC1317A3D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1968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dirty="0"/>
              <a:t>Server Activity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8B891B-8926-E90D-A964-0BF3FABBA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22" y="1863240"/>
            <a:ext cx="7889201" cy="439823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44C99E-8C33-434D-180A-E878616F3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112" y="1950524"/>
            <a:ext cx="3359899" cy="1873143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BFFCC0B1-A66D-4902-AD1C-4EB3401DD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211" y="4062355"/>
            <a:ext cx="3358800" cy="187253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1A3CF4-D994-C5B6-78B3-8705C2744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63" y="1041656"/>
            <a:ext cx="3589486" cy="67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74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CF2E9-8726-13D2-54A4-8521ED545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6D5BD53-D5F2-876B-3393-B44BF1BFC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89966AF-790C-B353-82AB-8EF145BE5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21BB244-0C2D-A563-53EB-E383272E6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C4C3C64-E6A7-37F0-B522-C3E351FAF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ECED54F-7976-5CEA-33D9-B500B97B5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dirty="0"/>
              <a:t>Client Activity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939DABD-6C29-433F-E1C7-9DC0B8EC5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3089" y="2001031"/>
            <a:ext cx="3537038" cy="1955532"/>
          </a:xfrm>
          <a:prstGeom prst="rect">
            <a:avLst/>
          </a:prstGeom>
        </p:spPr>
      </p:pic>
      <p:pic>
        <p:nvPicPr>
          <p:cNvPr id="5" name="Picture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F4BE2D6B-4581-28E7-50DF-256041879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089" y="4115780"/>
            <a:ext cx="3537038" cy="19990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81C808-64FC-B495-85B2-1A264BD2C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17" y="1957544"/>
            <a:ext cx="7458040" cy="41572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CA5131-33CE-152E-5748-4D7A147A4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62" y="1180119"/>
            <a:ext cx="3433487" cy="67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89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98329-F2A7-B78D-B902-37CD24DF0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Demo – now for real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2B087F-64A5-B269-16C8-BA15693FD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068" y="3775544"/>
            <a:ext cx="3871566" cy="17734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42EFF4-4E50-BED4-FB43-11E72CDB0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068" y="1846383"/>
            <a:ext cx="3882122" cy="17734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08AB01-A22F-C3EC-FA9F-D538F2507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33" y="1846383"/>
            <a:ext cx="7866606" cy="370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712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177C-EF59-6F66-E2DB-955B7925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0DEF2-A985-A6C5-6B1D-AA01BEB4A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>
                <a:hlinkClick r:id="rId2"/>
              </a:rPr>
              <a:t>Project overview is in Server </a:t>
            </a:r>
            <a:endParaRPr lang="en-AT" dirty="0"/>
          </a:p>
          <a:p>
            <a:endParaRPr lang="en-A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449C6C-83E8-7F8B-1A83-3504915F2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097" y="180410"/>
            <a:ext cx="4401536" cy="21637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419BCE-4B16-6DB2-BC41-DFDCD55C2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244" y="2479151"/>
            <a:ext cx="7772400" cy="406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057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B502-2BD9-DB1A-60A6-5ADCFD63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Our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59CB5-8AF9-D4B4-D5FE-7CF2B7F43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How we proceed with uplaoding the game to itchi.io?</a:t>
            </a:r>
          </a:p>
          <a:p>
            <a:r>
              <a:rPr lang="en-GB" dirty="0"/>
              <a:t>W</a:t>
            </a:r>
            <a:r>
              <a:rPr lang="en-AT" dirty="0"/>
              <a:t>hen exactly do we have One-On-One meetings?</a:t>
            </a:r>
          </a:p>
          <a:p>
            <a:endParaRPr lang="en-AT" dirty="0"/>
          </a:p>
          <a:p>
            <a:pPr marL="0" indent="0">
              <a:buNone/>
            </a:pP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107502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black shirt with white text&#10;&#10;AI-generated content may be incorrect.">
            <a:extLst>
              <a:ext uri="{FF2B5EF4-FFF2-40B4-BE49-F238E27FC236}">
                <a16:creationId xmlns:a16="http://schemas.microsoft.com/office/drawing/2014/main" id="{26C589AC-1387-C292-E9A5-8E84584355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92" t="9091" r="27376" b="1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3366E8-D6CB-1402-693E-27E043CD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538" y="2868732"/>
            <a:ext cx="3974366" cy="1364600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Thanks for your time.</a:t>
            </a:r>
            <a:br>
              <a:rPr lang="en-US" sz="2800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</a:rPr>
              <a:t>Let's go back merging!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140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567</Words>
  <Application>Microsoft Macintosh PowerPoint</Application>
  <PresentationFormat>Widescreen</PresentationFormat>
  <Paragraphs>89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Machi Koro Sprint 3- Review</vt:lpstr>
      <vt:lpstr>Team Bisasam</vt:lpstr>
      <vt:lpstr>Sprint 1 Goal - RECAP</vt:lpstr>
      <vt:lpstr>Initial Sprint 2 Goal – RECAP </vt:lpstr>
      <vt:lpstr>Sprint 3 Goal  </vt:lpstr>
      <vt:lpstr>Sprint 3 Goal  </vt:lpstr>
      <vt:lpstr>What was achieved in Sprint 2</vt:lpstr>
      <vt:lpstr>How will we tackle the open challenges</vt:lpstr>
      <vt:lpstr>Server Activity</vt:lpstr>
      <vt:lpstr>Client Activity</vt:lpstr>
      <vt:lpstr>Working Demo – now for real</vt:lpstr>
      <vt:lpstr>Project Overview</vt:lpstr>
      <vt:lpstr>Our questions</vt:lpstr>
      <vt:lpstr>Thanks for your time. Let's go back merging!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Starman, Lev</dc:creator>
  <cp:lastModifiedBy>Lev Starman</cp:lastModifiedBy>
  <cp:revision>3</cp:revision>
  <dcterms:created xsi:type="dcterms:W3CDTF">2026-04-20T17:27:20Z</dcterms:created>
  <dcterms:modified xsi:type="dcterms:W3CDTF">2026-06-15T20:02:52Z</dcterms:modified>
</cp:coreProperties>
</file>